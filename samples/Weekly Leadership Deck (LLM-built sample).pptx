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Georgia"/>
              </a:rPr>
              <a:t>Meridian Defense Systems C2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29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AD3EE"/>
                </a:solidFill>
                <a:latin typeface="Calibri"/>
              </a:rPr>
              <a:t>Weekly Leadership Summary: Milestones, Risks and Status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9B2C9"/>
                </a:solidFill>
                <a:latin typeface="Calibri"/>
              </a:rPr>
              <a:t>Report date: 2026-09-24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1A1F2E"/>
                </a:solidFill>
                <a:latin typeface="Georgia"/>
              </a:rPr>
              <a:t>One of three open milestones has an unsupported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76218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>
                <a:solidFill>
                  <a:srgbClr val="0F1B3D"/>
                </a:solidFill>
                <a:latin typeface="Calibri"/>
              </a:rPr>
              <a:t>1/4</a:t>
            </a:r>
          </a:p>
          <a:p>
            <a:pPr algn="ctr"/>
            <a:r>
              <a:rPr sz="1300">
                <a:solidFill>
                  <a:srgbClr val="6B7385"/>
                </a:solidFill>
                <a:latin typeface="Calibri"/>
              </a:rPr>
              <a:t>Milestones reported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07738" y="1371600"/>
            <a:ext cx="3576218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>
                <a:solidFill>
                  <a:srgbClr val="0F1B3D"/>
                </a:solidFill>
                <a:latin typeface="Calibri"/>
              </a:rPr>
              <a:t>14 days</a:t>
            </a:r>
          </a:p>
          <a:p>
            <a:pPr algn="ctr"/>
            <a:r>
              <a:rPr sz="1300">
                <a:solidFill>
                  <a:srgbClr val="6B7385"/>
                </a:solidFill>
                <a:latin typeface="Calibri"/>
              </a:rPr>
              <a:t>Largest forecast slip (ATO)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371600"/>
            <a:ext cx="3576218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3000" b="1">
                <a:solidFill>
                  <a:srgbClr val="0F1B3D"/>
                </a:solidFill>
                <a:latin typeface="Calibri"/>
              </a:rPr>
              <a:t>1</a:t>
            </a:r>
          </a:p>
          <a:p>
            <a:pPr algn="ctr"/>
            <a:r>
              <a:rPr sz="1300">
                <a:solidFill>
                  <a:srgbClr val="6B7385"/>
                </a:solidFill>
                <a:latin typeface="Calibri"/>
              </a:rPr>
              <a:t>Open milestones with unsupported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3520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F2E"/>
                </a:solidFill>
                <a:latin typeface="Calibri"/>
              </a:rPr>
              <a:t>• ATO: ATO Approval Delayed by ISSO Review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F2E"/>
                </a:solidFill>
                <a:latin typeface="Calibri"/>
              </a:rPr>
              <a:t>• CDR: CDR Status Should Be Corrected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F2E"/>
                </a:solidFill>
                <a:latin typeface="Calibri"/>
              </a:rPr>
              <a:t>• DEMO: IOC Readiness Review 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1A1F2E"/>
                </a:solidFill>
                <a:latin typeface="Georgia"/>
              </a:rPr>
              <a:t>Milestone schedule: one of four milestones is complete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554480"/>
                <a:gridCol w="1645920"/>
                <a:gridCol w="341071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Forecast / Actual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Reported status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 supports status?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Preliminary Design Review (PDR)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2026-04-15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4F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8494"/>
                          </a:solidFill>
                          <a:latin typeface="Calibri"/>
                        </a:rPr>
                        <a:t>Not assessed this week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Authority to Operate (ATO) Approval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2026-10-14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D68A10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Critical Design Review (CDR)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2026-11-15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4F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Customer Demo / IOC Readiness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2026-12-01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B8494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4F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24528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B7385"/>
                </a:solidFill>
                <a:latin typeface="Calibri"/>
              </a:rPr>
              <a:t>Reported statuses come from the milestone sheet; the evidence assessment comes from this week's approved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1A1F2E"/>
                </a:solidFill>
                <a:latin typeface="Georgia"/>
              </a:rPr>
              <a:t>Two of three open milestone statuses are supported by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76218" cy="4480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/>
            <a:r>
              <a:rPr sz="1600" b="1">
                <a:solidFill>
                  <a:srgbClr val="1A1F2E"/>
                </a:solidFill>
                <a:latin typeface="Calibri"/>
              </a:rPr>
              <a:t>ATO Approval Delayed by ISSO Review</a:t>
            </a:r>
          </a:p>
          <a:p>
            <a:r>
              <a:rPr sz="1300" b="1">
                <a:solidFill>
                  <a:srgbClr val="D68A10"/>
                </a:solidFill>
                <a:latin typeface="Calibri"/>
              </a:rPr>
              <a:t>Reported: At Risk</a:t>
            </a:r>
          </a:p>
          <a:p>
            <a:r>
              <a:rPr sz="1300" b="1">
                <a:solidFill>
                  <a:srgbClr val="2E7D4F"/>
                </a:solidFill>
                <a:latin typeface="Calibri"/>
              </a:rPr>
              <a:t>Evidence supports status: Yes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Cybersecurity ATO documentation task overdue since 2026-09-10, blocked pending ISSO review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Forecast slipped to 2026-10-14, about two weeks past the 2026-09-30 plan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ISSO office's informal estimate is a 2-3 week delay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07738" y="1371600"/>
            <a:ext cx="3576218" cy="4480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/>
            <a:r>
              <a:rPr sz="1600" b="1">
                <a:solidFill>
                  <a:srgbClr val="1A1F2E"/>
                </a:solidFill>
                <a:latin typeface="Calibri"/>
              </a:rPr>
              <a:t>CDR Status Should Be Corrected</a:t>
            </a:r>
          </a:p>
          <a:p>
            <a:r>
              <a:rPr sz="1300" b="1">
                <a:solidFill>
                  <a:srgbClr val="2E7D4F"/>
                </a:solidFill>
                <a:latin typeface="Calibri"/>
              </a:rPr>
              <a:t>Reported: On Track</a:t>
            </a:r>
          </a:p>
          <a:p>
            <a:r>
              <a:rPr sz="1300" b="1">
                <a:solidFill>
                  <a:srgbClr val="C0392B"/>
                </a:solidFill>
                <a:latin typeface="Calibri"/>
              </a:rPr>
              <a:t>Evidence supports status: No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Radar feed adapter integration (a CDR dependency) was due 2026-09-12 and remains in progress as of 2026-09-24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Team expects at least another week of delay due to incomplete vendor API documentation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CDR is planned for 2026-11-15, so some schedule runway remains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Reported "On Track" status should be corrected to reflect this overdue, dependency-linked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371600"/>
            <a:ext cx="3576218" cy="4480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/>
            <a:r>
              <a:rPr sz="1600" b="1">
                <a:solidFill>
                  <a:srgbClr val="1A1F2E"/>
                </a:solidFill>
                <a:latin typeface="Calibri"/>
              </a:rPr>
              <a:t>IOC Readiness Review On Track</a:t>
            </a:r>
          </a:p>
          <a:p>
            <a:r>
              <a:rPr sz="1300" b="1">
                <a:solidFill>
                  <a:srgbClr val="7B8494"/>
                </a:solidFill>
                <a:latin typeface="Calibri"/>
              </a:rPr>
              <a:t>Reported: Not Started</a:t>
            </a:r>
          </a:p>
          <a:p>
            <a:r>
              <a:rPr sz="1300" b="1">
                <a:solidFill>
                  <a:srgbClr val="2E7D4F"/>
                </a:solidFill>
                <a:latin typeface="Calibri"/>
              </a:rPr>
              <a:t>Evidence supports status: Yes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On track for its 2026-12-01 date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Test plan update is in progress and was due 2026-09-24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Customer-requested dry-run logistics task is not due until 2026-10-01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A1F2E"/>
                </a:solidFill>
                <a:latin typeface="Calibri"/>
              </a:rPr>
              <a:t>• Dry-run logistics task still has no assignee despite the customer's explicit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1A1F2E"/>
                </a:solidFill>
                <a:latin typeface="Georgia"/>
              </a:rPr>
              <a:t>Three overdue or unassigned items are named across two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371600"/>
                <a:gridCol w="5239512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the report says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Cybersecurity ATO documentation task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Overdue since 2026-09-10; blocked pending ISSO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Radar feed adapter integration task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Due 2026-09-12; still in progress; ~1 more week of delay expected (vendor API documentation incomplete)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Dry-run logistics task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 assignee despite customer request; due 2026-10-01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519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F2E"/>
                </a:solidFill>
                <a:latin typeface="Calibri"/>
              </a:rPr>
              <a:t>RISK-021 (Subcontractor staffing gap on fusion engine team) — Closed; recommended for removal from the risk register (CDR).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1A1F2E"/>
                </a:solidFill>
                <a:latin typeface="Georgia"/>
              </a:rPr>
              <a:t>Four named tasks drive this week's schedule and assignment watch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1118311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371600"/>
                <a:gridCol w="5422392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Due date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0F1B3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Cybersecurity ATO documentation task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Overdue; blocked pending ISSO 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Radar feed adapter integration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CDR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In progress (overdue); vendor API documentation incomplete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Test plan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2026-09-24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Dry-run logistics task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DEMO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2026-10-01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E"/>
                          </a:solidFill>
                          <a:latin typeface="Calibri"/>
                        </a:rPr>
                        <a:t>Not yet due; no assignee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Georgia"/>
              </a:rPr>
              <a:t>Three decisions are proposed: one status correction, one removal, one watch item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1277295" cy="1005840"/>
          </a:xfrm>
          <a:prstGeom prst="roundRect">
            <a:avLst/>
          </a:prstGeom>
          <a:solidFill>
            <a:srgbClr val="1B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1300" b="1">
                <a:solidFill>
                  <a:srgbClr val="8FB4FF"/>
                </a:solidFill>
                <a:latin typeface="Calibri"/>
              </a:rPr>
              <a:t>CDR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Correct CDR's reported status from "On Track" to reflect the overdue, dependency-linked radar feed adapter integration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51760"/>
            <a:ext cx="11277295" cy="1005840"/>
          </a:xfrm>
          <a:prstGeom prst="roundRect">
            <a:avLst/>
          </a:prstGeom>
          <a:solidFill>
            <a:srgbClr val="1B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1300" b="1">
                <a:solidFill>
                  <a:srgbClr val="8FB4FF"/>
                </a:solidFill>
                <a:latin typeface="Calibri"/>
              </a:rPr>
              <a:t>CDR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Remove RISK-021 (subcontractor staffing gap, fusion engine team) from the risk register; it is 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11277295" cy="1005840"/>
          </a:xfrm>
          <a:prstGeom prst="roundRect">
            <a:avLst/>
          </a:prstGeom>
          <a:solidFill>
            <a:srgbClr val="1B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/>
            <a:r>
              <a:rPr sz="1300" b="1">
                <a:solidFill>
                  <a:srgbClr val="8FB4FF"/>
                </a:solidFill>
                <a:latin typeface="Calibri"/>
              </a:rPr>
              <a:t>DEMO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Track the unassigned dry-run logistics task closely as its 2026-10-01 due date nears.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6B7385"/>
                </a:solidFill>
                <a:latin typeface="Calibri"/>
              </a:rPr>
              <a:t>Meridian Defense Systems C2 Platform | Weekly status as of 2026-09-24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r"/>
            <a:r>
              <a:rPr sz="1000">
                <a:solidFill>
                  <a:srgbClr val="6B73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